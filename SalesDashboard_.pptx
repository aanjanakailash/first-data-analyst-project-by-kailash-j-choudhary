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0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40</c:v>
                </c:pt>
                <c:pt idx="2">
                  <c:v>32</c:v>
                </c:pt>
                <c:pt idx="3">
                  <c:v>23</c:v>
                </c:pt>
              </c:numCache>
            </c:numRef>
          </c:val>
        </c:ser>
        <c:dLbls>
          <c:numFmt formatCode="#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.#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0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South</c:v>
                  </c:pt>
                  <c:pt idx="1">
                    <c:v>West</c:v>
                  </c:pt>
                  <c:pt idx="2">
                    <c:v>North</c:v>
                  </c:pt>
                  <c:pt idx="3">
                    <c:v>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3.6</c:v>
                </c:pt>
                <c:pt idx="2">
                  <c:v>0.8</c:v>
                </c:pt>
                <c:pt idx="3">
                  <c:v>-3.1</c:v>
                </c:pt>
              </c:numCache>
            </c:numRef>
          </c:val>
        </c:ser>
        <c:dLbls>
          <c:numFmt formatCode="#.#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6B8B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8B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Office Sup.</c:v>
                  </c:pt>
                  <c:pt idx="1">
                    <c:v>Appliances</c:v>
                  </c:pt>
                  <c:pt idx="2">
                    <c:v>Furniture</c:v>
                  </c:pt>
                  <c:pt idx="3">
                    <c:v>Electronics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20</c:v>
                </c:pt>
                <c:pt idx="2">
                  <c:v>37</c:v>
                </c:pt>
                <c:pt idx="3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Sum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0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West</c:v>
                  </c:pt>
                  <c:pt idx="2">
                    <c:v>East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15600</c:v>
                </c:pt>
                <c:pt idx="1">
                  <c:v>10500</c:v>
                </c:pt>
                <c:pt idx="2">
                  <c:v>9400</c:v>
                </c:pt>
                <c:pt idx="3">
                  <c:v>8700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0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Furniture</c:v>
                  </c:pt>
                  <c:pt idx="1">
                    <c:v>Appliances</c:v>
                  </c:pt>
                  <c:pt idx="2">
                    <c:v>Electronics</c:v>
                  </c:pt>
                  <c:pt idx="3">
                    <c:v>Office Sup.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8.8</c:v>
                </c:pt>
                <c:pt idx="2">
                  <c:v>8.9</c:v>
                </c:pt>
                <c:pt idx="3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8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E8404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33.33</c:v>
                </c:pt>
                <c:pt idx="1">
                  <c:v>26.83</c:v>
                </c:pt>
                <c:pt idx="2">
                  <c:v>21.8</c:v>
                </c:pt>
                <c:pt idx="3">
                  <c:v>18.05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4040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38BDF8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29.85</c:v>
                </c:pt>
                <c:pt idx="1">
                  <c:v>25.67</c:v>
                </c:pt>
                <c:pt idx="2">
                  <c:v>25.07</c:v>
                </c:pt>
                <c:pt idx="3">
                  <c:v>19.4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00D4AA"/>
            </a:solidFill>
            <a:ln w="381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$#.##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</c:v>
                </c:pt>
                <c:pt idx="1">
                  <c:v>0.63</c:v>
                </c:pt>
                <c:pt idx="2">
                  <c:v>0.47</c:v>
                </c:pt>
                <c:pt idx="3">
                  <c:v>1.5</c:v>
                </c:pt>
                <c:pt idx="4">
                  <c:v>0.83</c:v>
                </c:pt>
                <c:pt idx="5">
                  <c:v>0.83</c:v>
                </c:pt>
              </c:numCache>
            </c:numRef>
          </c:val>
          <c:smooth val="1"/>
        </c:ser>
        <c:dLbls>
          <c:numFmt formatCode="$#.##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— introduce the presentation with key KPIs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contents — 16 slides covering all aspects of the sales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summary — key takeaway: revenue up sharply but profit barely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leads at $45M. East is the weakest at $23M — but has the worst profit (next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 and West are the profit engines. East needs urgent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= 55% of all category profit. Any disruption here has outsized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over-discounts. East's losses are not fixable by discount reduction — structural audit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Discounts exceed profit margin — a structural problem requiring immediate policy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 has the best profit-to-order ratio. North has most orders but also most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East returns are proportionally the highest. Returns erode net revenue and increase operational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profit of $1.5M has never been replicated. Understanding what drove it is the single biggest business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features — explain how slicers change every visual dynamically.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insights from the dashboard data covering critical issues, warnings and strengths.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additional deeper insights on margin, concentration risk and structural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Priority: Urgent actions first (East + discounts), then growth and protection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— Q3 2025 actions are most urgent. Each action mapped to owner and expected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summary — all key facts, metrics, and next steps on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 — close with author credit and data source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D4AA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914400"/>
            <a:ext cx="2743200" cy="2743200"/>
          </a:xfrm>
          <a:prstGeom prst="ellipse">
            <a:avLst/>
          </a:prstGeom>
          <a:solidFill>
            <a:srgbClr val="E84040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381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81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972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2926080" y="3182112"/>
            <a:ext cx="63093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101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Sales &amp; Profit Analysis  |  2020 – 2025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$24.43M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+7.84%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96312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96312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$831K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96312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+0.51%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9704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9704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9704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89704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-2.72%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83096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83096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83096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83096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76488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76488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76488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76488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N·S·E·W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469880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46988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469880" y="4370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469880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Elec·Furn·Appl·Off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North · South · East · West   |   Period: 2020–2025   |   Categories: Electronics · Furniture · Appliances · Office Supplies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609344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60934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6093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160934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profit, orders &amp; margin overview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01952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938528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1938528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19385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Revenue by Region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193852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South, East, West performance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231136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2267712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" y="2267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267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by Region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22677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make vs lose money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2596896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259689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" y="259689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 Categories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0" y="25968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Furniture, Appliances, Office Supplies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889504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2926080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292608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" y="2926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 — Region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0" y="292608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discounts awarded per region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218688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3255264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" y="32552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32552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 — Category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0" y="325526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% across product categories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547872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" y="3584448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" y="3584448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" y="35844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 (Pie)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0" y="358444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share by region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877056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24" y="3913632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46" name="Text 44"/>
          <p:cNvSpPr/>
          <p:nvPr/>
        </p:nvSpPr>
        <p:spPr>
          <a:xfrm>
            <a:off x="420624" y="391363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" y="39136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Reasons by Region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0" y="39136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breakdown across regions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1572768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64224" y="1609344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51" name="Text 49"/>
          <p:cNvSpPr/>
          <p:nvPr/>
        </p:nvSpPr>
        <p:spPr>
          <a:xfrm>
            <a:off x="6364224" y="160934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84848" y="16093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Trend 2020–2025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601200" y="160934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profit line chart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1901952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64224" y="1938528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56" name="Text 54"/>
          <p:cNvSpPr/>
          <p:nvPr/>
        </p:nvSpPr>
        <p:spPr>
          <a:xfrm>
            <a:off x="6364224" y="1938528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84848" y="19385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&amp; Year Filter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601200" y="193852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year &amp; state filters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9360" y="2231136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64224" y="2267712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61" name="Text 59"/>
          <p:cNvSpPr/>
          <p:nvPr/>
        </p:nvSpPr>
        <p:spPr>
          <a:xfrm>
            <a:off x="6364224" y="2267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84848" y="2267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Part 1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601200" y="22677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Warning insights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309360" y="2560320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64224" y="2596896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66" name="Text 64"/>
          <p:cNvSpPr/>
          <p:nvPr/>
        </p:nvSpPr>
        <p:spPr>
          <a:xfrm>
            <a:off x="6364224" y="259689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84848" y="259689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Part 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601200" y="25968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Strength, Watch &amp; Opportunity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9360" y="2889504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64224" y="2926080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71" name="Text 69"/>
          <p:cNvSpPr/>
          <p:nvPr/>
        </p:nvSpPr>
        <p:spPr>
          <a:xfrm>
            <a:off x="6364224" y="292608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84848" y="2926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601200" y="292608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prioritised actions to drive profit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309360" y="3218688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64224" y="3255264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76" name="Text 74"/>
          <p:cNvSpPr/>
          <p:nvPr/>
        </p:nvSpPr>
        <p:spPr>
          <a:xfrm>
            <a:off x="6364224" y="32552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784848" y="32552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Roadmap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9601200" y="325526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timeline and owner mapping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09360" y="3547872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64224" y="3584448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81" name="Text 79"/>
          <p:cNvSpPr/>
          <p:nvPr/>
        </p:nvSpPr>
        <p:spPr>
          <a:xfrm>
            <a:off x="6364224" y="3584448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784848" y="35844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601200" y="358444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recap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09360" y="3877056"/>
            <a:ext cx="5577840" cy="292608"/>
          </a:xfrm>
          <a:prstGeom prst="roundRect">
            <a:avLst>
              <a:gd name="adj" fmla="val 18750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64224" y="3913632"/>
            <a:ext cx="347472" cy="219456"/>
          </a:xfrm>
          <a:prstGeom prst="roundRect">
            <a:avLst>
              <a:gd name="adj" fmla="val 20833"/>
            </a:avLst>
          </a:prstGeom>
          <a:solidFill>
            <a:srgbClr val="00A07E"/>
          </a:solidFill>
          <a:ln/>
        </p:spPr>
      </p:sp>
      <p:sp>
        <p:nvSpPr>
          <p:cNvPr id="86" name="Text 84"/>
          <p:cNvSpPr/>
          <p:nvPr/>
        </p:nvSpPr>
        <p:spPr>
          <a:xfrm>
            <a:off x="6364224" y="391363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84848" y="39136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601200" y="39136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performance vs. prior year · All values in USD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1E30"/>
          </a:solidFill>
          <a:ln w="762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664208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892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$24.43M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8912" y="2414016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+7.84% vs 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688336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year: $22.66M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572768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1E30"/>
          </a:solidFill>
          <a:ln w="762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1568" y="1664208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1892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$831K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64992" y="2414016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+0.51% vs 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688336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year: $826.91K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572768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1E30"/>
          </a:solidFill>
          <a:ln w="762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7648" y="1664208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(2025)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1892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91072" y="2414016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-2.72% vs 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688336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year: 847 orders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1572768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1E30"/>
          </a:solidFill>
          <a:ln w="762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53728" y="1664208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17152" y="1892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7152" y="2414016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Very thin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17152" y="2688336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year: 826.91K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310128"/>
            <a:ext cx="11430000" cy="2286000"/>
          </a:xfrm>
          <a:prstGeom prst="roundRect">
            <a:avLst>
              <a:gd name="adj" fmla="val 48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Sales grew 7.84% — a strong top-line result driven by higher average order values (fewer, bigger orders).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" y="42611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Profit only grew 0.51% despite 7.84% sales growth — margin compression from discounting and cost pressures.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46817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Orders declined 2.72% — concentration risk increases when fewer customers drive revenue.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" y="51023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3.40% profit margin is dangerously thin — any cost spike or discount increase wipes out profit entirely.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generate the most revenue?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1572768"/>
            <a:ext cx="3931920" cy="4389120"/>
          </a:xfrm>
          <a:prstGeom prst="roundRect">
            <a:avLst>
              <a:gd name="adj" fmla="val 2791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92440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Breakdown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21031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0" y="214884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119872" y="21945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22208" y="21579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12680" y="2157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22208" y="24871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32.1%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92440" y="30632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38160" y="310896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22C55E">
              <a:alpha val="4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119872" y="315468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22208" y="3118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12680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22208" y="34472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28.6%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92440" y="40233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406908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F5A623">
              <a:alpha val="4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119872" y="411480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22208" y="4078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012680" y="4078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522208" y="44074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22.9%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92440" y="49834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38160" y="502920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E84040">
              <a:alpha val="4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119872" y="5074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22208" y="50383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012680" y="50383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522208" y="53675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16.4%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by Region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sales are equally profitable — East is a loss-maker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1572768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1C0A0A"/>
          </a:solidFill>
          <a:ln w="10160">
            <a:solidFill>
              <a:srgbClr val="E840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East Region Alert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92440" y="2029968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-$3.1M profit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$23M revenue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is the ONLY region with negative profit. It generates 16.4% of revenue but destroys $3.1M in value — a critical structural problem.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3611880"/>
            <a:ext cx="3931920" cy="2331720"/>
          </a:xfrm>
          <a:prstGeom prst="roundRect">
            <a:avLst>
              <a:gd name="adj" fmla="val 47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2440" y="3730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Ranking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9244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149840" y="40965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+$3.9M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0" y="45354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149840" y="453542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+$3.6M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92440" y="49743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149840" y="49743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5413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149840" y="54132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-$3.1M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 Categories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by a massive margin — the anchor category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43800" y="1572768"/>
            <a:ext cx="4297680" cy="4389120"/>
          </a:xfrm>
          <a:prstGeom prst="roundRect">
            <a:avLst>
              <a:gd name="adj" fmla="val 2553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1691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Highlights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21214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149840" y="2176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55%   Dominant anchor category — must protect.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26680" y="308152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3136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149840" y="3136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0" y="34472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29%   Solid #2 with room to grow.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26680" y="404164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149840" y="4096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4407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15%   Mid-tier performer, stable margins.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26680" y="500176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0" y="5056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149840" y="5056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863840" y="5367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1%   Very low contribution — review strategy.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Volume by Region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awards the most discounts — compressing already thin margins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1572768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09560" y="166420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8065008" y="1664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15.6K discounts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65008" y="19568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awards 49% more discounts than South — despite already having the highest sales volume.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9560" y="2651760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9560" y="2743200"/>
            <a:ext cx="54864" cy="80467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" name="Text 13"/>
          <p:cNvSpPr/>
          <p:nvPr/>
        </p:nvSpPr>
        <p:spPr>
          <a:xfrm>
            <a:off x="8065008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margin risk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65008" y="303580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a 3.40% profit margin, each discount point given is almost directly subtracted from net profit.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09560" y="3730752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09560" y="3822192"/>
            <a:ext cx="54864" cy="8046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8065008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discounts don't help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65008" y="41148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has relatively fewer discounts yet still posts -$3.1M profit. The problem is structural, not pricing.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09560" y="4809744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4901184"/>
            <a:ext cx="54864" cy="8046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8065008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65008" y="51937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blanket discounts to performance-based, targeted promotions. Cap discount at 6% across all regions.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% by Category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sit at ~8.7–9.4% — dangerous on a 3.4% margin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1572768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92440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Math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2414016"/>
            <a:ext cx="35661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21214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149840" y="21214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92440" y="2916936"/>
            <a:ext cx="35661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6" name="Text 13"/>
          <p:cNvSpPr/>
          <p:nvPr/>
        </p:nvSpPr>
        <p:spPr>
          <a:xfrm>
            <a:off x="8092440" y="2624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149840" y="26243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~9.0%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92440" y="3419856"/>
            <a:ext cx="35661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9" name="Text 16"/>
          <p:cNvSpPr/>
          <p:nvPr/>
        </p:nvSpPr>
        <p:spPr>
          <a:xfrm>
            <a:off x="8092440" y="31272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– Discount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149840" y="31272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-5.6%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92440" y="3922776"/>
            <a:ext cx="35661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2" name="Text 19"/>
          <p:cNvSpPr/>
          <p:nvPr/>
        </p:nvSpPr>
        <p:spPr>
          <a:xfrm>
            <a:off x="8092440" y="363016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149840" y="36301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Negative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2440" y="4160520"/>
            <a:ext cx="35661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discounts averaging 9% and profit margin at 3.4%, the business is effectively discounting more than it earns per sale. Without restructuring, scale alone won't fix profitability.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 by Region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accounts for one-third of all orders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572768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572768"/>
            <a:ext cx="5623560" cy="4663440"/>
          </a:xfrm>
          <a:prstGeom prst="roundRect">
            <a:avLst>
              <a:gd name="adj" fmla="val 2353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6916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Share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1488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3952" y="2258568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0" y="22037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25146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1,650   Largest order volume — also highest returns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31546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3264408"/>
            <a:ext cx="310896" cy="3108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209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3209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26.83%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35204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1,330   Strong revenue AND profit — most balanced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41605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3952" y="427024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4215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0" y="4215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21.80%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45262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1,080   Highest profit ($3.9M) despite #3 order share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0" y="51663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3952" y="5276088"/>
            <a:ext cx="310896" cy="310896"/>
          </a:xfrm>
          <a:prstGeom prst="ellipse">
            <a:avLst/>
          </a:prstGeom>
          <a:solidFill>
            <a:srgbClr val="E84040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5221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52212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18.05%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0" y="55321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890   Fewest orders — worst profit (-$3.1M)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Reasons by Region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leads returns at 29.85% — eroding net revenue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572768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572768"/>
            <a:ext cx="5623560" cy="4663440"/>
          </a:xfrm>
          <a:prstGeom prst="roundRect">
            <a:avLst>
              <a:gd name="adj" fmla="val 2353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6916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14884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3952" y="2240280"/>
            <a:ext cx="310896" cy="310896"/>
          </a:xfrm>
          <a:prstGeom prst="ellipse">
            <a:avLst/>
          </a:prstGeom>
          <a:solidFill>
            <a:srgbClr val="E8404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0" y="2194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2514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100   Highest returns — product fit or quality issue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3136392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3227832"/>
            <a:ext cx="310896" cy="3108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3182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25.67%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35021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86   Moderate — needs monitoring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412394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3952" y="421538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0" y="4169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25.07%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448970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84   High volume region so high absolute count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0" y="5111496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4263D"/>
          </a:solidFill>
          <a:ln w="5080">
            <a:solidFill>
              <a:srgbClr val="1E35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3952" y="5202936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5157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51572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19.40%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0" y="54772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65   Best return rate — strong product match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Trend 2020 – 2025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3-year decline, a 2023 spike, and a crash — what happened?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72768"/>
          <a:ext cx="11475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5349240"/>
            <a:ext cx="3657600" cy="1261872"/>
          </a:xfrm>
          <a:prstGeom prst="roundRect">
            <a:avLst>
              <a:gd name="adj" fmla="val 724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5394960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2020–22: 3yr decline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5715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fell from $0.87M to $0.47M — sustained contraction phase.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51960" y="5349240"/>
            <a:ext cx="3657600" cy="1261872"/>
          </a:xfrm>
          <a:prstGeom prst="roundRect">
            <a:avLst>
              <a:gd name="adj" fmla="val 724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5394960"/>
            <a:ext cx="54864" cy="11704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Peak: $1.5M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0" y="5715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year. What changed? Pricing, product mix or cost control?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5349240"/>
            <a:ext cx="3657600" cy="1261872"/>
          </a:xfrm>
          <a:prstGeom prst="roundRect">
            <a:avLst>
              <a:gd name="adj" fmla="val 724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38160" y="5394960"/>
            <a:ext cx="54864" cy="117043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0" name="Text 17"/>
          <p:cNvSpPr/>
          <p:nvPr/>
        </p:nvSpPr>
        <p:spPr>
          <a:xfrm>
            <a:off x="827532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2024–25: Crash -45%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75320" y="5715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collapsed to $0.83M and has not recovered. Root cause unknown.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Slicers &amp; Filters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interact with the Power BI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11475720" cy="1188720"/>
          </a:xfrm>
          <a:prstGeom prst="roundRect">
            <a:avLst>
              <a:gd name="adj" fmla="val 9231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 (2020 – 2025)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4263D"/>
          </a:solidFill>
          <a:ln w="7620">
            <a:solidFill>
              <a:srgbClr val="1E3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4263D"/>
          </a:solidFill>
          <a:ln w="7620">
            <a:solidFill>
              <a:srgbClr val="1E3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4263D"/>
          </a:solidFill>
          <a:ln w="7620">
            <a:solidFill>
              <a:srgbClr val="1E3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4263D"/>
          </a:solidFill>
          <a:ln w="7620">
            <a:solidFill>
              <a:srgbClr val="1E3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4263D"/>
          </a:solidFill>
          <a:ln w="7620">
            <a:solidFill>
              <a:srgbClr val="1E3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66960" y="1993392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0A07E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9933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63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511296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4747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749040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124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986784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950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4224528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1879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462272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4256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4700016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6634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4937760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9011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360" y="5175504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13892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" y="5413248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3766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" y="5650992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6144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" y="5888736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58521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4360" y="6126480"/>
            <a:ext cx="164592" cy="164592"/>
          </a:xfrm>
          <a:prstGeom prst="rect">
            <a:avLst/>
          </a:prstGeom>
          <a:solidFill>
            <a:srgbClr val="14263D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60899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389120" y="2926080"/>
            <a:ext cx="7452360" cy="3657600"/>
          </a:xfrm>
          <a:prstGeom prst="roundRect">
            <a:avLst>
              <a:gd name="adj" fmla="val 30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0632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Dashboard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17720" y="3493008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Click any year (2020–2025) in the year slicer to filter ALL visuals for that year at once.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17720" y="391363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Check one or more states in the State filter to drill into geography-specific performance.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617720" y="4334256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Click any bar or pie segment to cross-filter other charts on the same page automatically.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617720" y="4754880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Hover over data points to see exact values in the tooltip without cluttering the chart.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17720" y="5175504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Click the Reset Filters button (funnel icon) to clear all selections and see full data.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617720" y="5596128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Use the Export button (table icon) to export underlying data as CSV for further analysis.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617720" y="601675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Use the 'Focus Mode' button on any chart to expand it full-screen for deeper analysis.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Part 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problems and urgent warnings from the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36776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E840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36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84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region is losing money — -$3.1M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generates $23M in sales (16.4% of total) but posts a -$3.1M net profit. It is the only region with negative profitability. High discounting at 9.4% avg combined with structural cost issues drive persistent losses.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78308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36776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636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1984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grew, profit barely moved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2468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+7.84% sales growth vs just +0.51% profit growth. This dangerous divergence means discounts, rising costs or high-revenue-low-margin products are consuming all revenue gains. Scale alone will not solve this.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703320" cy="2286000"/>
          </a:xfrm>
          <a:prstGeom prst="roundRect">
            <a:avLst>
              <a:gd name="adj" fmla="val 4800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636776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636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75320" y="19842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profit — $71M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246888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contributes 55% of all category profit at $71M, dwarfing Furniture ($37M) and Appliances ($20M). It is the anchor category — any supply, pricing, or demand disruption here has an outsized company-wide impact.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3749040" cy="2240280"/>
          </a:xfrm>
          <a:prstGeom prst="roundRect">
            <a:avLst>
              <a:gd name="adj" fmla="val 4898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69664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E8404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69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517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declining -2.72% YoY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5001768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orders in 2025 vs 847 last year. Fewer orders with higher revenue means average order value rose — but this is fragile. Fewer transactions increase concentration risk and signal customer acquisition problems.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4315968"/>
            <a:ext cx="3749040" cy="2240280"/>
          </a:xfrm>
          <a:prstGeom prst="roundRect">
            <a:avLst>
              <a:gd name="adj" fmla="val 4898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4169664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4169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4517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leads returns at 29.85%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89120" y="5001768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has the most return cases despite being the top sales region. High returns erode net revenue and signal product-market fit issues, wrong customer expectations, or fulfilment quality problems.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4315968"/>
            <a:ext cx="3703320" cy="2240280"/>
          </a:xfrm>
          <a:prstGeom prst="roundRect">
            <a:avLst>
              <a:gd name="adj" fmla="val 4898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4169664"/>
            <a:ext cx="822960" cy="274320"/>
          </a:xfrm>
          <a:prstGeom prst="roundRect">
            <a:avLst>
              <a:gd name="adj" fmla="val 46667"/>
            </a:avLst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8275320" y="4169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75320" y="45171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peaked in 2023 then crashed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75320" y="5001768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hit $1.5M in 2023 — the best result in 6 years — then collapsed to $0.83M in 2024–25. 2025 has NOT recovered to 2023 levels despite significantly higher sales revenue. Root cause must be identified urgently.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Part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patterns hidden in the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550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840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55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TRAP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exceed profit margin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of ~9% vs 3.4% profit margin means on every discounted sale, the discount alone is 2.6× the profit. The business must immediately cap discounts at 5% maximum to survive at scale.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6550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655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1965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is the most efficient region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240487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generates $3.9M profit on only $32M in sales — a 12.2% margin. Compare this to North at $45M sales but only $0.8M profit (1.8% margin). South's operating model should be replicated.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7830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6550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655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66760" y="1965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concentration is rising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240487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order count falls and revenue rises, average order value increases. This means fewer customers driving more revenue — dangerous concentration risk if top accounts leave or downsize.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03250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was the anomaly — not normal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47823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$1.5M profit in 2023 represents a 219% spike from 2022's $0.47M. This level has never been sustained. Management should investigate the exact drivers and determine if they are replicable.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416052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403250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34840" y="4343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is a drag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434840" y="47823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contributes only $1M to category profit despite receiving 9.4% average discounts — the highest of any category. This category may be diluting overall profitability and needs strategic review.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416052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6760" y="403250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66760" y="4343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South-West are the profit engines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47823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($3.9M) and West ($3.6M) together account for $7.5M in profit — nearly 2.5× the $3.1M that East destroys. Protecting and growing South and West should be the primary strategic focus.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prioritised actions to restore and grow profitability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664208"/>
            <a:ext cx="347472" cy="347472"/>
          </a:xfrm>
          <a:prstGeom prst="ellipse">
            <a:avLst/>
          </a:prstGeom>
          <a:solidFill>
            <a:srgbClr val="E8404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1682496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E84040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8249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" y="16642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Exit East Region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048256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East operations — product mix, logistics, pricing. If structural losses can't be reversed within 2 quarters, scale back East and redeploy resources to South &amp; West.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572768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664208"/>
            <a:ext cx="347472" cy="347472"/>
          </a:xfrm>
          <a:prstGeom prst="ellipse">
            <a:avLst/>
          </a:prstGeom>
          <a:solidFill>
            <a:srgbClr val="E84040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1682496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E8404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168249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16642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Discount Policy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9088" y="2048256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all regional discounts at 5% max. Shift to targeted promotions. Each 1% discount reduction = ~$244K in additional profit at current revenue.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38328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4015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40156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96112" y="338328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 Electronics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" y="3767328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55% of category profit. Prioritise inventory, negotiate better supplier terms, and increase marketing allocation. Explore new Electronics sub-categories.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3291840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338328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927080" y="34015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927080" y="340156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39712" y="338328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the 2023 Spike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19088" y="3767328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hit $1.5M in 2023. Identify the exact drivers — pricing changes, product launches, cost reductions — and replicate those conditions in 2025–26.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5010912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" y="5102352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" y="5102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512064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5A623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5120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6112" y="51023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North Region Returns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5488" y="5486400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29.85% of all returns, North needs a quality and fulfilment audit. Lower return rates directly improve net revenue and reduce hidden operational costs.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5010912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F1E30"/>
          </a:solidFill>
          <a:ln w="6350">
            <a:solidFill>
              <a:srgbClr val="1E35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19088" y="510235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6419088" y="5102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927080" y="512064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38BDF8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927080" y="5120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39712" y="51023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South &amp; West Margins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19088" y="5486400"/>
            <a:ext cx="54041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($3.9M) and West ($3.6M) are the profit pillars. Ensure they don't cross-subsidise East losses or absorb disproportionate corporate overhead.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Roadmap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timeline and expected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00A07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0" y="16002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1600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0" y="160020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11475720" cy="62179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848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Exit East Region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0848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0848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0848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208483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+$3.1M profit recovery potential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70048"/>
            <a:ext cx="11475720" cy="621792"/>
          </a:xfrm>
          <a:prstGeom prst="rect">
            <a:avLst/>
          </a:prstGeom>
          <a:solidFill>
            <a:srgbClr val="1426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432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Discount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7432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743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743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274320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+$245K per 1% discount reduction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11475720" cy="62179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015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Electronics Category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40156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Growth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4015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401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Mgr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34015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+ margin defense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11475720" cy="621792"/>
          </a:xfrm>
          <a:prstGeom prst="rect">
            <a:avLst/>
          </a:prstGeom>
          <a:solidFill>
            <a:srgbClr val="14263D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0599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2023 Profit Spike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05993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Growth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40599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40599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+ 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0" y="40599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$700K profit unlock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45152"/>
            <a:ext cx="11475720" cy="62179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7183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North Returns (29.85%)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471830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Watch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47183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47183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61120" y="471830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 cost + revenue loss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5303520"/>
            <a:ext cx="11475720" cy="621792"/>
          </a:xfrm>
          <a:prstGeom prst="rect">
            <a:avLst/>
          </a:prstGeom>
          <a:solidFill>
            <a:srgbClr val="14263D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3766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South &amp; West Margins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53766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Protect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53766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53766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961120" y="53766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$7.5M profit base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5961888"/>
            <a:ext cx="11475720" cy="62179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0350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Strategy Review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0" y="60350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Monitor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60350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40880" y="6035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Mgr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961120" y="60350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$1M profit improvement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6510528"/>
            <a:ext cx="11475720" cy="91440"/>
          </a:xfrm>
          <a:prstGeom prst="roundRect">
            <a:avLst>
              <a:gd name="adj" fmla="val 40000"/>
            </a:avLst>
          </a:prstGeom>
          <a:solidFill>
            <a:srgbClr val="00A07E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1828800" cy="1828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4101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12161520" cy="22860"/>
          </a:xfrm>
          <a:prstGeom prst="rect">
            <a:avLst/>
          </a:prstGeom>
          <a:solidFill>
            <a:srgbClr val="00D4A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at a glance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$24.43M ▲ +7.84%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$831K ▲ +0.51%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▼ -2.72%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0F1E30"/>
          </a:solidFill>
          <a:ln w="635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0" y="1828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 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263347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066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Region (Profit)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7066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— $3.9M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63347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066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Worst Region (Profit)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27066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— -$3.1M LOSS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41071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838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Best Category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483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$71M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41071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4838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Weakest Category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3483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— $1M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18795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611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Highest Returns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2611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— 29.85%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418795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2611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Most Orders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18320" y="42611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— 33.33%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96519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038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Profit Peak Year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5038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$1.5M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09360" y="496519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0F1E30"/>
          </a:solidFill>
          <a:ln w="508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5038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Most Discounts (Reg.)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18320" y="5038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— 15,600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5760" y="6492240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East audit · Discount reform · Electronics growth plan · 2023 analysis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0D4AA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4114800"/>
            <a:ext cx="3200400" cy="3200400"/>
          </a:xfrm>
          <a:prstGeom prst="ellipse">
            <a:avLst/>
          </a:prstGeom>
          <a:solidFill>
            <a:srgbClr val="E84040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810">
            <a:solidFill>
              <a:srgbClr val="00D4AA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81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57607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Board Dashboard  |  2020 – 2025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3017520"/>
            <a:ext cx="5212080" cy="1737360"/>
          </a:xfrm>
          <a:prstGeom prst="roundRect">
            <a:avLst>
              <a:gd name="adj" fmla="val 7368"/>
            </a:avLst>
          </a:prstGeom>
          <a:solidFill>
            <a:srgbClr val="0F1E30"/>
          </a:solidFill>
          <a:ln w="762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1272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34015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Kailash J Choudhary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3931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&amp; Dashboard Specialist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All data sourced from Power BI Sales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33095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Period: 2020 – 2025   |   Regions: N · S · E · 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67842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 queries, contact the analytics team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Kailash J Choudhary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Board Dashboard</dc:title>
  <dc:subject>PptxGenJS Presentation</dc:subject>
  <dc:creator>Kailash J Choudhary</dc:creator>
  <cp:lastModifiedBy>Kailash J Choudhary</cp:lastModifiedBy>
  <cp:revision>1</cp:revision>
  <dcterms:created xsi:type="dcterms:W3CDTF">2026-06-27T06:04:41Z</dcterms:created>
  <dcterms:modified xsi:type="dcterms:W3CDTF">2026-06-27T06:04:41Z</dcterms:modified>
</cp:coreProperties>
</file>